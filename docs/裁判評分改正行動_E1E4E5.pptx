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57ef041d-8bda-0bbc-e322-efd1eb9ad7b9}">
          <p14:sldIdLst>
            <p14:sldId id="256"/>
          </p14:sldIdLst>
        </p14:section>
        <p14:section name="問題總覽" id="{63e4a695-db23-091d-2a14-a86ed14568cd}">
          <p14:sldIdLst>
            <p14:sldId id="257"/>
          </p14:sldIdLst>
        </p14:section>
        <p14:section name="E1 最終數值錯誤" id="{03f89818-b00d-a429-3988-0565179dc69d}">
          <p14:sldIdLst>
            <p14:sldId id="258"/>
          </p14:sldIdLst>
        </p14:section>
        <p14:section name="E5 只寫答案" id="{b946fa79-3d07-588c-87cd-2ec9ba484848}">
          <p14:sldIdLst>
            <p14:sldId id="259"/>
          </p14:sldIdLst>
        </p14:section>
        <p14:section name="E4 刪除依據" id="{344f2cd2-e5e8-4bfd-7dea-753d427d92dd}">
          <p14:sldIdLst>
            <p14:sldId id="260"/>
          </p14:sldIdLst>
        </p14:section>
        <p14:section name="時程與驗收" id="{43135f38-02bb-ffd3-8938-42293dc8506e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這份簡報說明虛擬考生埋錯驗證中，兩位 Gemma 裁判漏抓最多的三類錯誤，以及對應的改正行動。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三類錯誤的漏抓原因不一樣：E1 主要是評分標準沒寫清楚，E5 是裁判缺少 P4 的給分範例，E4 則是我們的埋錯程式本身有瑕疵。所以改正方式也分三種。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E1 的問題主要不在裁判看不到錯，而是評分標準沒規定以最終答案為準。31B 有 13 份寫出前後矛盾，卻只給 P1 部分分。根本解法是計算題的數值改用程式比對。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E5 要分兩種看：最終答案本身帶算式的，裁判當成推論還說得過去；但純結論的 24 份，仍有一半拿到推論滿分，這才是裁判的弱點。改法是把 P4 的定義寫清楚，再附給分範例。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E4 的 17% 不能解讀成裁判抓不到。6 份裡有 5 份其實還留著法規或準則依據，是我們的刪除規則沒刪乾淨。修正規則、擴大題數之後再重測。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執行分三步：先改評分提示詞，再修程式，最後只重跑這三類，加上正確答案 E0 作對照，約 300 次閱卷。驗收目標是建議值，重點是抓錯率要明顯提升，但正確答案不能被誤判。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APMIC 評測組 ・ 裁判評分改正行動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裁判評分改正行動計畫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E1 最終數值錯誤 ・ E5 只寫答案 ・ E4 刪除依據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依據虛擬考生埋錯驗證：45 題、688 份作答、1,361 筆閱卷 ・ 2026 年 10 月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三類漏抓的原因不同，要用三種方式修正</a:t>
            </a:r>
            <a:endParaRPr lang="en-US" sz="3000" dirty="0"/>
          </a:p>
        </p:txBody>
      </p:sp>
      <p:sp>
        <p:nvSpPr>
          <p:cNvPr id="3" name="stat-E1"/>
          <p:cNvSpPr/>
          <p:nvPr/>
        </p:nvSpPr>
        <p:spPr>
          <a:xfrm>
            <a:off x="548640" y="1371600"/>
            <a:ext cx="34747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-E1-name"/>
          <p:cNvSpPr txBox="1"/>
          <p:nvPr/>
        </p:nvSpPr>
        <p:spPr>
          <a:xfrm>
            <a:off x="82296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E1 最終數值錯誤</a:t>
            </a:r>
            <a:endParaRPr lang="en-US" sz="1600" dirty="0"/>
          </a:p>
        </p:txBody>
      </p:sp>
      <p:sp>
        <p:nvSpPr>
          <p:cNvPr id="5" name="stat-E1-value"/>
          <p:cNvSpPr txBox="1"/>
          <p:nvPr/>
        </p:nvSpPr>
        <p:spPr>
          <a:xfrm>
            <a:off x="822960" y="19202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59%／30%</a:t>
            </a:r>
            <a:endParaRPr lang="en-US" sz="3600" dirty="0"/>
          </a:p>
        </p:txBody>
      </p:sp>
      <p:sp>
        <p:nvSpPr>
          <p:cNvPr id="6" name="stat-E1-sub"/>
          <p:cNvSpPr txBox="1"/>
          <p:nvPr/>
        </p:nvSpPr>
        <p:spPr>
          <a:xfrm>
            <a:off x="822960" y="2697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26B／31B 抓到</a:t>
            </a:r>
            <a:endParaRPr lang="en-US" sz="1200" dirty="0"/>
          </a:p>
        </p:txBody>
      </p:sp>
      <p:sp>
        <p:nvSpPr>
          <p:cNvPr id="7" name="stat-E5"/>
          <p:cNvSpPr/>
          <p:nvPr/>
        </p:nvSpPr>
        <p:spPr>
          <a:xfrm>
            <a:off x="4297680" y="1371600"/>
            <a:ext cx="34747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-E5-name"/>
          <p:cNvSpPr txBox="1"/>
          <p:nvPr/>
        </p:nvSpPr>
        <p:spPr>
          <a:xfrm>
            <a:off x="457200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E5 只寫答案、沒有推論</a:t>
            </a:r>
            <a:endParaRPr lang="en-US" sz="1600" dirty="0"/>
          </a:p>
        </p:txBody>
      </p:sp>
      <p:sp>
        <p:nvSpPr>
          <p:cNvPr id="9" name="stat-E5-value"/>
          <p:cNvSpPr txBox="1"/>
          <p:nvPr/>
        </p:nvSpPr>
        <p:spPr>
          <a:xfrm>
            <a:off x="4572000" y="19202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47%／53%</a:t>
            </a:r>
            <a:endParaRPr lang="en-US" sz="3600" dirty="0"/>
          </a:p>
        </p:txBody>
      </p:sp>
      <p:sp>
        <p:nvSpPr>
          <p:cNvPr id="10" name="stat-E5-sub"/>
          <p:cNvSpPr txBox="1"/>
          <p:nvPr/>
        </p:nvSpPr>
        <p:spPr>
          <a:xfrm>
            <a:off x="4572000" y="2697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26B／31B 抓到</a:t>
            </a:r>
            <a:endParaRPr lang="en-US" sz="1200" dirty="0"/>
          </a:p>
        </p:txBody>
      </p:sp>
      <p:sp>
        <p:nvSpPr>
          <p:cNvPr id="11" name="stat-E4"/>
          <p:cNvSpPr/>
          <p:nvPr/>
        </p:nvSpPr>
        <p:spPr>
          <a:xfrm>
            <a:off x="8046720" y="1371600"/>
            <a:ext cx="34747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at-E4-name"/>
          <p:cNvSpPr txBox="1"/>
          <p:nvPr/>
        </p:nvSpPr>
        <p:spPr>
          <a:xfrm>
            <a:off x="832104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E4 刪除依據</a:t>
            </a:r>
            <a:endParaRPr lang="en-US" sz="1600" dirty="0"/>
          </a:p>
        </p:txBody>
      </p:sp>
      <p:sp>
        <p:nvSpPr>
          <p:cNvPr id="13" name="stat-E4-value"/>
          <p:cNvSpPr txBox="1"/>
          <p:nvPr/>
        </p:nvSpPr>
        <p:spPr>
          <a:xfrm>
            <a:off x="8321040" y="19202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17%／17%</a:t>
            </a:r>
            <a:endParaRPr lang="en-US" sz="3600" dirty="0"/>
          </a:p>
        </p:txBody>
      </p:sp>
      <p:sp>
        <p:nvSpPr>
          <p:cNvPr id="14" name="stat-E4-sub"/>
          <p:cNvSpPr txBox="1"/>
          <p:nvPr/>
        </p:nvSpPr>
        <p:spPr>
          <a:xfrm>
            <a:off x="8321040" y="2697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僅 6 份，樣本不足</a:t>
            </a:r>
            <a:endParaRPr lang="en-US" sz="1200" dirty="0"/>
          </a:p>
        </p:txBody>
      </p:sp>
      <p:graphicFrame>
        <p:nvGraphicFramePr>
          <p:cNvPr id="3" name="caus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6035040"/>
                <a:gridCol w="4114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類型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主要原因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改正方向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裁判多半看到錯誤，但評分標準沒規定以最終答案為準，只給 P1 = 0.5；部分埋錯只改了數字、文字結論未變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評分標準補規則＋程式比對數值＋修正埋錯程式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P4 沒有給分範例；純結論的作答仍有約一半拿到 P4 滿分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P4 定義與給分範例＋程式檢查推論步驟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埋錯程式沒刪乾淨（條號範圍、段落編號仍在），裁判給 P5 滿分其實合理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修正刪除規則＋擴大題數後重測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E1：裁判看到前後矛盾，卻只給 P1 部分分</a:t>
            </a:r>
            <a:endParaRPr lang="en-US" sz="3000" dirty="0"/>
          </a:p>
        </p:txBody>
      </p:sp>
      <p:sp>
        <p:nvSpPr>
          <p:cNvPr id="3" name="e1-now"/>
          <p:cNvSpPr/>
          <p:nvPr/>
        </p:nvSpPr>
        <p:spPr>
          <a:xfrm>
            <a:off x="548640" y="1371600"/>
            <a:ext cx="5394960" cy="374904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1-now-badge-circle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e1-now-badge-label"/>
          <p:cNvSpPr txBox="1"/>
          <p:nvPr/>
        </p:nvSpPr>
        <p:spPr>
          <a:xfrm>
            <a:off x="8229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現</a:t>
            </a:r>
            <a:endParaRPr lang="en-US" sz="1600" dirty="0"/>
          </a:p>
        </p:txBody>
      </p:sp>
      <p:sp>
        <p:nvSpPr>
          <p:cNvPr id="6" name="e1-now-title"/>
          <p:cNvSpPr txBox="1"/>
          <p:nvPr/>
        </p:nvSpPr>
        <p:spPr>
          <a:xfrm>
            <a:off x="1554480" y="1645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現況</a:t>
            </a:r>
            <a:endParaRPr lang="en-US" sz="2000" dirty="0"/>
          </a:p>
        </p:txBody>
      </p:sp>
      <p:sp>
        <p:nvSpPr>
          <p:cNvPr id="7" name="e1-now-body"/>
          <p:cNvSpPr txBox="1"/>
          <p:nvPr/>
        </p:nvSpPr>
        <p:spPr>
          <a:xfrm>
            <a:off x="822960" y="233172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27 份作答：推論過程正確，只把【最終答案】數字改錯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31B 漏抓 19 份，其中 13 份給 2.0 分；評語寫「結論前後矛盾」，但 P1 給 0.5，未觸發 C1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26B 漏抓 11 份；部分題目的最終答案是文字結論（如「值得投資」），程式只改數字，裁判判正確屬合理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真正把錯誤數字當正確、給 4 分以上：26B 4 份、31B 6 份</a:t>
            </a:r>
            <a:endParaRPr lang="en-US" sz="1500" dirty="0"/>
          </a:p>
        </p:txBody>
      </p:sp>
      <p:sp>
        <p:nvSpPr>
          <p:cNvPr id="8" name="e1-key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根本解法：數字對不對、條號存不存在，能用程式客觀檢查的，不交給 LLM 裁判判斷</a:t>
            </a:r>
            <a:endParaRPr lang="en-US" sz="1800" dirty="0"/>
          </a:p>
        </p:txBody>
      </p:sp>
      <p:sp>
        <p:nvSpPr>
          <p:cNvPr id="9" name="e1-act"/>
          <p:cNvSpPr/>
          <p:nvPr/>
        </p:nvSpPr>
        <p:spPr>
          <a:xfrm>
            <a:off x="6217920" y="1371600"/>
            <a:ext cx="5394960" cy="3749040"/>
          </a:xfrm>
          <a:prstGeom prst="roundRect">
            <a:avLst>
              <a:gd name="adj" fmla="val 29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e1-act-badge-circle"/>
          <p:cNvSpPr/>
          <p:nvPr/>
        </p:nvSpPr>
        <p:spPr>
          <a:xfrm>
            <a:off x="649224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e1-act-badge-label"/>
          <p:cNvSpPr txBox="1"/>
          <p:nvPr/>
        </p:nvSpPr>
        <p:spPr>
          <a:xfrm>
            <a:off x="64922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改</a:t>
            </a:r>
            <a:endParaRPr lang="en-US" sz="1600" dirty="0"/>
          </a:p>
        </p:txBody>
      </p:sp>
      <p:sp>
        <p:nvSpPr>
          <p:cNvPr id="12" name="e1-act-title"/>
          <p:cNvSpPr txBox="1"/>
          <p:nvPr/>
        </p:nvSpPr>
        <p:spPr>
          <a:xfrm>
            <a:off x="7223760" y="1645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改正行動</a:t>
            </a:r>
            <a:endParaRPr lang="en-US" sz="2000" dirty="0"/>
          </a:p>
        </p:txBody>
      </p:sp>
      <p:sp>
        <p:nvSpPr>
          <p:cNvPr id="13" name="e1-act-body"/>
          <p:cNvSpPr txBox="1"/>
          <p:nvPr/>
        </p:nvSpPr>
        <p:spPr>
          <a:xfrm>
            <a:off x="6492240" y="233172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評分標準新增：以【最終答案】為準，最終數值與參考答案不符即 P1 = 0，即使過程正確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計算題改用程式比對數值：擷取最終答案數字，誤差超過 0.5% 自動觸發 C1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修正埋錯程式：E1 只用於最終答案為數值的題目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E5：純結論的作答，仍有約一半拿到推論滿分</a:t>
            </a:r>
            <a:endParaRPr lang="en-US" sz="3000" dirty="0"/>
          </a:p>
        </p:txBody>
      </p:sp>
      <p:graphicFrame>
        <p:nvGraphicFramePr>
          <p:cNvPr id="5" name="e5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583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31520"/>
                <a:gridCol w="1463040"/>
                <a:gridCol w="14630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最終答案內容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份數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26B 有扣 P4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31B 有扣 P4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含一行算式（裁判視為推論，情有可原）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43%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48%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純結論、沒有算式（真正弱點）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50%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58%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e5-note"/>
          <p:cNvSpPr txBox="1"/>
          <p:nvPr/>
        </p:nvSpPr>
        <p:spPr>
          <a:xfrm>
            <a:off x="548640" y="35661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P4 只能給 0、0.5、1。依 FTRC，沒有推論應給 0～0.5；目前兩位裁判在純結論作答上，約一半仍給 1。</a:t>
            </a:r>
            <a:endParaRPr lang="en-US" sz="1500" dirty="0"/>
          </a:p>
        </p:txBody>
      </p:sp>
      <p:sp>
        <p:nvSpPr>
          <p:cNvPr id="5" name="e5-act"/>
          <p:cNvSpPr/>
          <p:nvPr/>
        </p:nvSpPr>
        <p:spPr>
          <a:xfrm>
            <a:off x="7498080" y="1371600"/>
            <a:ext cx="4114800" cy="329184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e5-act-badge-circle"/>
          <p:cNvSpPr/>
          <p:nvPr/>
        </p:nvSpPr>
        <p:spPr>
          <a:xfrm>
            <a:off x="7772400" y="1600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e5-act-badge-label"/>
          <p:cNvSpPr txBox="1"/>
          <p:nvPr/>
        </p:nvSpPr>
        <p:spPr>
          <a:xfrm>
            <a:off x="77724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改</a:t>
            </a:r>
            <a:endParaRPr lang="en-US" sz="1600" dirty="0"/>
          </a:p>
        </p:txBody>
      </p:sp>
      <p:sp>
        <p:nvSpPr>
          <p:cNvPr id="8" name="e5-act-title"/>
          <p:cNvSpPr txBox="1"/>
          <p:nvPr/>
        </p:nvSpPr>
        <p:spPr>
          <a:xfrm>
            <a:off x="8503920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改正行動</a:t>
            </a:r>
            <a:endParaRPr lang="en-US" sz="2000" dirty="0"/>
          </a:p>
        </p:txBody>
      </p:sp>
      <p:sp>
        <p:nvSpPr>
          <p:cNvPr id="9" name="e5-act-body"/>
          <p:cNvSpPr txBox="1"/>
          <p:nvPr/>
        </p:nvSpPr>
        <p:spPr>
          <a:xfrm>
            <a:off x="7772400" y="233172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P4 定義補充：只有結論 → 0；只有一行算式、無說明 → 0.5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閱卷提示附 P4 給 0、0.5、1 分的範例回答各一份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程式檢查推論步驟數與字數，明顯過短者 P4 上限 0.5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E4：是埋錯程式沒刪乾淨，不是裁判判錯</a:t>
            </a:r>
            <a:endParaRPr lang="en-US" sz="3000" dirty="0"/>
          </a:p>
        </p:txBody>
      </p:sp>
      <p:graphicFrame>
        <p:nvGraphicFramePr>
          <p:cNvPr id="6" name="e4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743200"/>
                <a:gridCol w="30175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題目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作答中仍留著的依據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未刪除原因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INS-019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保險法第 14～20 條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「第 X～Y 條」範圍寫法未納入規則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TRD-023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UCP600 第 30 條 a 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條文「項」的寫法未完整處理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ACC-025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實務簡便法（B49）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準則段落編號未納入規則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FSA-039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IAS 2 下跌價損失列銷貨成本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括號內的準則名稱未刪除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INS-014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RBC 制度、保險法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制度名稱與法規名稱未刪除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e4-note"/>
          <p:cNvSpPr txBox="1"/>
          <p:nvPr/>
        </p:nvSpPr>
        <p:spPr>
          <a:xfrm>
            <a:off x="548640" y="50292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6 份中有 5 份，裁判給 P5 滿分的理由正是這些沒刪掉的依據，判斷合理。</a:t>
            </a:r>
            <a:endParaRPr lang="en-US" sz="1500" dirty="0"/>
          </a:p>
        </p:txBody>
      </p:sp>
      <p:sp>
        <p:nvSpPr>
          <p:cNvPr id="5" name="e4-act"/>
          <p:cNvSpPr/>
          <p:nvPr/>
        </p:nvSpPr>
        <p:spPr>
          <a:xfrm>
            <a:off x="7863840" y="1371600"/>
            <a:ext cx="3749040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e4-act-badge-circle"/>
          <p:cNvSpPr/>
          <p:nvPr/>
        </p:nvSpPr>
        <p:spPr>
          <a:xfrm>
            <a:off x="8138160" y="16002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e4-act-badge-label"/>
          <p:cNvSpPr txBox="1"/>
          <p:nvPr/>
        </p:nvSpPr>
        <p:spPr>
          <a:xfrm>
            <a:off x="81381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改</a:t>
            </a:r>
            <a:endParaRPr lang="en-US" sz="1600" dirty="0"/>
          </a:p>
        </p:txBody>
      </p:sp>
      <p:sp>
        <p:nvSpPr>
          <p:cNvPr id="8" name="e4-act-title"/>
          <p:cNvSpPr txBox="1"/>
          <p:nvPr/>
        </p:nvSpPr>
        <p:spPr>
          <a:xfrm>
            <a:off x="8869680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改正行動</a:t>
            </a:r>
            <a:endParaRPr lang="en-US" sz="2000" dirty="0"/>
          </a:p>
        </p:txBody>
      </p:sp>
      <p:sp>
        <p:nvSpPr>
          <p:cNvPr id="9" name="e4-act-body"/>
          <p:cNvSpPr txBox="1"/>
          <p:nvPr/>
        </p:nvSpPr>
        <p:spPr>
          <a:xfrm>
            <a:off x="8138160" y="233172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刪除規則補上條號範圍、條項、段落編號、括號內準則與法規名稱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擴大題數：每題都嘗試產生 E4，目標至少 30 份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修正後重測，才能真正評估裁判的 P5 判斷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三步驟執行，只需重跑約 300 次閱卷</a:t>
            </a:r>
            <a:endParaRPr lang="en-US" sz="3000" dirty="0"/>
          </a:p>
        </p:txBody>
      </p:sp>
      <p:sp>
        <p:nvSpPr>
          <p:cNvPr id="3" name="step-1"/>
          <p:cNvSpPr/>
          <p:nvPr/>
        </p:nvSpPr>
        <p:spPr>
          <a:xfrm>
            <a:off x="548640" y="137160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-1-badge-circle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tep-1-badge-label"/>
          <p:cNvSpPr txBox="1"/>
          <p:nvPr/>
        </p:nvSpPr>
        <p:spPr>
          <a:xfrm>
            <a:off x="8229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-1-title"/>
          <p:cNvSpPr txBox="1"/>
          <p:nvPr/>
        </p:nvSpPr>
        <p:spPr>
          <a:xfrm>
            <a:off x="155448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修改評分提示詞</a:t>
            </a:r>
            <a:endParaRPr lang="en-US" sz="1800" dirty="0"/>
          </a:p>
        </p:txBody>
      </p:sp>
      <p:sp>
        <p:nvSpPr>
          <p:cNvPr id="7" name="step-1-desc"/>
          <p:cNvSpPr txBox="1"/>
          <p:nvPr/>
        </p:nvSpPr>
        <p:spPr>
          <a:xfrm>
            <a:off x="822960" y="23317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P1「以最終答案為準」、P4 定義與給分範例</a:t>
            </a:r>
            <a:endParaRPr lang="en-US" sz="1400" dirty="0"/>
          </a:p>
        </p:txBody>
      </p:sp>
      <p:sp>
        <p:nvSpPr>
          <p:cNvPr id="8" name="step-2"/>
          <p:cNvSpPr/>
          <p:nvPr/>
        </p:nvSpPr>
        <p:spPr>
          <a:xfrm>
            <a:off x="4297680" y="137160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ep-2-badge-circle"/>
          <p:cNvSpPr/>
          <p:nvPr/>
        </p:nvSpPr>
        <p:spPr>
          <a:xfrm>
            <a:off x="457200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tep-2-badge-label"/>
          <p:cNvSpPr txBox="1"/>
          <p:nvPr/>
        </p:nvSpPr>
        <p:spPr>
          <a:xfrm>
            <a:off x="45720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tep-2-title"/>
          <p:cNvSpPr txBox="1"/>
          <p:nvPr/>
        </p:nvSpPr>
        <p:spPr>
          <a:xfrm>
            <a:off x="530352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修正程式</a:t>
            </a:r>
            <a:endParaRPr lang="en-US" sz="1800" dirty="0"/>
          </a:p>
        </p:txBody>
      </p:sp>
      <p:sp>
        <p:nvSpPr>
          <p:cNvPr id="12" name="step-2-desc"/>
          <p:cNvSpPr txBox="1"/>
          <p:nvPr/>
        </p:nvSpPr>
        <p:spPr>
          <a:xfrm>
            <a:off x="4572000" y="23317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埋錯程式（E1、E4）；新增數值比對與推論步驟檢查</a:t>
            </a:r>
            <a:endParaRPr lang="en-US" sz="1400" dirty="0"/>
          </a:p>
        </p:txBody>
      </p:sp>
      <p:sp>
        <p:nvSpPr>
          <p:cNvPr id="13" name="step-3"/>
          <p:cNvSpPr/>
          <p:nvPr/>
        </p:nvSpPr>
        <p:spPr>
          <a:xfrm>
            <a:off x="8046720" y="137160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-3-badge-circle"/>
          <p:cNvSpPr/>
          <p:nvPr/>
        </p:nvSpPr>
        <p:spPr>
          <a:xfrm>
            <a:off x="832104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tep-3-badge-label"/>
          <p:cNvSpPr txBox="1"/>
          <p:nvPr/>
        </p:nvSpPr>
        <p:spPr>
          <a:xfrm>
            <a:off x="83210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tep-3-title"/>
          <p:cNvSpPr txBox="1"/>
          <p:nvPr/>
        </p:nvSpPr>
        <p:spPr>
          <a:xfrm>
            <a:off x="905256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重跑與比較</a:t>
            </a:r>
            <a:endParaRPr lang="en-US" sz="1800" dirty="0"/>
          </a:p>
        </p:txBody>
      </p:sp>
      <p:sp>
        <p:nvSpPr>
          <p:cNvPr id="17" name="step-3-desc"/>
          <p:cNvSpPr txBox="1"/>
          <p:nvPr/>
        </p:nvSpPr>
        <p:spPr>
          <a:xfrm>
            <a:off x="8321040" y="23317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E0、E1、E4、E5 約 150 份 × 2 位裁判 ≈ 300 次閱卷，與修正前對照</a:t>
            </a:r>
            <a:endParaRPr lang="en-US" sz="1400" dirty="0"/>
          </a:p>
        </p:txBody>
      </p:sp>
      <p:graphicFrame>
        <p:nvGraphicFramePr>
          <p:cNvPr id="7" name="kpi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11064240" cy="914400"/>
        </p:xfrm>
        <a:graphic>
          <a:graphicData uri="http://schemas.openxmlformats.org/drawingml/2006/table">
            <a:tbl>
              <a:tblPr/>
              <a:tblGrid>
                <a:gridCol w="557784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驗收項目（建議目標）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修正前（26B／31B）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目標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E1 最終數值錯誤抓到率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59%／30%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≥ 90%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E5 純結論作答扣 P4 比率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50%／58%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≥ 90%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E4 有效樣本數與扣 P5 比率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 份，17%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≥ 30 份，≥ 80%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E0 正確答案被誤判（不得變嚴）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0%／4%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≤ 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3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MIC Judge Fix">
  <a:themeElements>
    <a:clrScheme name="APMIC Judge Fix">
      <a:dk1>
        <a:srgbClr val="1F2633"/>
      </a:dk1>
      <a:lt1>
        <a:srgbClr val="FFFFFF"/>
      </a:lt1>
      <a:dk2>
        <a:srgbClr val="14213D"/>
      </a:dk2>
      <a:lt2>
        <a:srgbClr val="F3F1EC"/>
      </a:lt2>
      <a:accent1>
        <a:srgbClr val="B5531C"/>
      </a:accent1>
      <a:accent2>
        <a:srgbClr val="2B5C9E"/>
      </a:accent2>
      <a:accent3>
        <a:srgbClr val="5A6372"/>
      </a:accent3>
      <a:accent4>
        <a:srgbClr val="F2A65A"/>
      </a:accent4>
      <a:accent5>
        <a:srgbClr val="E2DDD2"/>
      </a:accent5>
      <a:accent6>
        <a:srgbClr val="3D7A5C"/>
      </a:accent6>
      <a:hlink>
        <a:srgbClr val="2B5C9E"/>
      </a:hlink>
      <a:folHlink>
        <a:srgbClr val="6A4C93"/>
      </a:folHlink>
    </a:clrScheme>
    <a:fontScheme name="APMIC Judge Fix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裁判評分改正行動計畫</dc:title>
  <dc:subject>PptxGenJS Presentation</dc:subject>
  <dc:creator>APMIC 評測組</dc:creator>
  <cp:lastModifiedBy>APMIC 評測組</cp:lastModifiedBy>
  <cp:revision>1</cp:revision>
  <dcterms:created xsi:type="dcterms:W3CDTF">2026-10-21T13:15:44Z</dcterms:created>
  <dcterms:modified xsi:type="dcterms:W3CDTF">2026-10-21T13:15:44Z</dcterms:modified>
</cp:coreProperties>
</file>